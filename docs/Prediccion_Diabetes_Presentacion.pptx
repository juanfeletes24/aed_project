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Diagnóstico de Diabetes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Distribución Diabetes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A82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46E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No (76.21%)</c:v>
                  </c:pt>
                  <c:pt idx="1">
                    <c:v>Sí (19.53%)</c:v>
                  </c:pt>
                  <c:pt idx="2">
                    <c:v>Borderline (4.19%)</c:v>
                  </c:pt>
                  <c:pt idx="3">
                    <c:v>Otro (&lt;0.5%)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76.21</c:v>
                </c:pt>
                <c:pt idx="1">
                  <c:v>19.53</c:v>
                </c:pt>
                <c:pt idx="2">
                  <c:v>4.19</c:v>
                </c:pt>
                <c:pt idx="3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Comparación de Métricas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Modelo Básico</c:v>
                </c:pt>
              </c:strCache>
            </c:strRef>
          </c:tx>
          <c:spPr>
            <a:solidFill>
              <a:srgbClr val="9E9E9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Exactitud</c:v>
                  </c:pt>
                  <c:pt idx="1">
                    <c:v>Sensibilidad</c:v>
                  </c:pt>
                  <c:pt idx="2">
                    <c:v>Especificidad</c:v>
                  </c:pt>
                  <c:pt idx="3">
                    <c:v>AUC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73.1</c:v>
                </c:pt>
                <c:pt idx="1">
                  <c:v>53.4</c:v>
                </c:pt>
                <c:pt idx="2">
                  <c:v>66.78</c:v>
                </c:pt>
                <c:pt idx="3">
                  <c:v>63.83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 Completo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D2B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Exactitud</c:v>
                  </c:pt>
                  <c:pt idx="1">
                    <c:v>Sensibilidad</c:v>
                  </c:pt>
                  <c:pt idx="2">
                    <c:v>Especificidad</c:v>
                  </c:pt>
                  <c:pt idx="3">
                    <c:v>AUC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78.49</c:v>
                </c:pt>
                <c:pt idx="1">
                  <c:v>68.82</c:v>
                </c:pt>
                <c:pt idx="2">
                  <c:v>88.17</c:v>
                </c:pt>
                <c:pt idx="3">
                  <c:v>87.11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D2B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8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Rosario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de Datos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2377440" cy="3657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6420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Luz Adriana Pineda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20574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 S. Arandia Barragán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60604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D. Castañeda Betancourt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4320" y="2880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F. Rojas Manjarres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4480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49040" y="100584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Factores Demográficos,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Clínicos y de Estilo de Vida en la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del Riesgo de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2743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749040" y="35478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NHANES 2013–2014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34440" y="1188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Pregunta de Investigación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161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11887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Marco Metodológico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24028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9631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2240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24028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49631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 Estadística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52044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7764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3749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Predictivos: QDA y Regresión Logística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20440"/>
            <a:ext cx="6858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77647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623560" y="3749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diabetes es una enfermedad crónica de alta prevalencia mundial.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diagnóstico puede requerir múltiples pruebas y tiempo significativo.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predictivos pueden optimizar el proceso de tamizaje.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364992"/>
            <a:ext cx="4114800" cy="1417320"/>
          </a:xfrm>
          <a:prstGeom prst="rect">
            <a:avLst/>
          </a:prstGeom>
          <a:solidFill>
            <a:srgbClr val="EBF5FB"/>
          </a:solidFill>
          <a:ln/>
          <a:effectLst>
            <a:outerShdw sx="100000" sy="100000" kx="0" ky="0" algn="bl" rotWithShape="0" blurRad="635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3364992"/>
            <a:ext cx="64008" cy="141732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42900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¿En qué medida variables básicas (demográficas, medidas corporales, actividad física y dieta) permiten orientar la selección de exámenes clínicos relevantes y estimar la probabilidad de padecer diabetes?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64008" cy="8869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59105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patrones asociados al riesgo de diabetes y evaluar qué variables permiten su predicción.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148840"/>
            <a:ext cx="384048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148840"/>
            <a:ext cx="64008" cy="8869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55117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distribución de variables clínicas: HbA1c, presión arterial, IMC.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3108960"/>
            <a:ext cx="384048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3108960"/>
            <a:ext cx="64008" cy="8869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351129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probabilidad multivariada para modelar conjuntamente las variables.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069080"/>
            <a:ext cx="3840480" cy="886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4069080"/>
            <a:ext cx="64008" cy="88696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Específico 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4471416"/>
            <a:ext cx="3657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 conclusiones para optimizar la selección de exámenes clínicos.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Marco Metodológico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14400"/>
            <a:ext cx="2560320" cy="128016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914400"/>
            <a:ext cx="2560320" cy="128016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0604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2560320" cy="128016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seleccionadas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914400"/>
            <a:ext cx="2560320" cy="1280160"/>
          </a:xfrm>
          <a:prstGeom prst="rect">
            <a:avLst/>
          </a:prstGeom>
          <a:solidFill>
            <a:srgbClr val="0D2B5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03720" y="1051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3.174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903720" y="166420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(&gt;45 años)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042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NHANES 2013–2014 (National Health and Nutrition Examination Survey) — CDC / Kaggle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2697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 Estudio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274320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Cuantitativas Continuas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02152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021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7490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95928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959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Presión arterial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42816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428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489704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48970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36592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73659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Insulina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983480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9834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Carbohidratos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230368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5230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83280" y="3127248"/>
            <a:ext cx="2743200" cy="347472"/>
          </a:xfrm>
          <a:prstGeom prst="rect">
            <a:avLst/>
          </a:prstGeom>
          <a:solidFill>
            <a:srgbClr val="0097A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Nominales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83280" y="3502152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0440" y="35021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83280" y="3749040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20440" y="374904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Etnicidad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3995928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20440" y="399592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383280" y="4242816"/>
            <a:ext cx="2743200" cy="24688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424281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Tabaquismo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83280" y="4489704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20440" y="448970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diabetes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309360" y="3127248"/>
            <a:ext cx="2743200" cy="347472"/>
          </a:xfrm>
          <a:prstGeom prst="rect">
            <a:avLst/>
          </a:prstGeom>
          <a:solidFill>
            <a:srgbClr val="F9A82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3127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3502152"/>
            <a:ext cx="2743200" cy="246888"/>
          </a:xfrm>
          <a:prstGeom prst="rect">
            <a:avLst/>
          </a:prstGeom>
          <a:solidFill>
            <a:srgbClr val="E8EFF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35021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educativo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de Datos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07008"/>
          <a:ext cx="4114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Sedentarismo dominante en la muestra (factor clave de riesgo)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4023360"/>
            <a:ext cx="4114800" cy="822960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078224"/>
            <a:ext cx="3931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Alta concentración en población hispana → posible sesgo muestral y limitación en generalización de resultados.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846320" y="868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Cuantitativas Clave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846320" y="1207008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207008"/>
            <a:ext cx="64008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2618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(Hemoglobina Glicosilada)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983480" y="14996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asimétrica positiva. Valores centrales entre normalidad y prediabetes. Alto poder discriminatorio.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121408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46320" y="2121408"/>
            <a:ext cx="6400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83480" y="21762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Colesterol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983480" y="24140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relativamente simétrica. Valores medios con valores atípicos en niveles altos.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3035808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46320" y="3035808"/>
            <a:ext cx="64008" cy="84124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83480" y="30906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Insulina / Carbohidratos / Fibra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983480" y="33284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variabilidad y asimetría marcada. Heterogeneidad en hábitos de la población.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846320" y="3950208"/>
            <a:ext cx="3931920" cy="8412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846320" y="3950208"/>
            <a:ext cx="64008" cy="841248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83480" y="4005072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983480" y="4242816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 claras según diagnóstico: individuos con diabetes presentan IMC más elevado.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Modelación Estadística Multivariada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96112"/>
            <a:ext cx="25603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149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87552" y="101498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23591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Confirmó perfiles significativamente distintos entre individuos con y sin riesgo de diabetes, considerando múltiples variables simultáneamente.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313432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313432"/>
            <a:ext cx="256032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3230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87552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/ Análisis Factorial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" y="2843784"/>
            <a:ext cx="23591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Reveló 3 dimensiones latentes: (1) Patrones dietarios, (2) Cardiovascular-demográficos y (3) Clínico-metabólicos. El riesgo no se explica desde una sola dimensión.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730752"/>
            <a:ext cx="25603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730752"/>
            <a:ext cx="2560320" cy="73152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84962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87552" y="384962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 / ANCOVA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" y="4261104"/>
            <a:ext cx="235915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hipótesis estadísticas sobre diferencias entre grupos respecto a variables clínicas clave.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896112"/>
            <a:ext cx="2834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896112"/>
            <a:ext cx="2834640" cy="7315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0149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22192" y="10149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1426464"/>
            <a:ext cx="263347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discriminante cuadrático para clasificar individuos según riesgo. Desempeño exploratorio moderado como primera aproximación.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896112"/>
            <a:ext cx="28346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896112"/>
            <a:ext cx="2834640" cy="73152"/>
          </a:xfrm>
          <a:prstGeom prst="rect">
            <a:avLst/>
          </a:prstGeom>
          <a:solidFill>
            <a:srgbClr val="0D2B55"/>
          </a:solidFill>
          <a:ln w="12700">
            <a:solidFill>
              <a:srgbClr val="0D2B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014984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39712" y="101498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27648" y="1426464"/>
            <a:ext cx="2633472" cy="3273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predictivo principal. Se evaluaron versiones básica (variables demográficas) y completa (incluye HbA1c, colesterol e insulina).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Predictivos: Resultados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94944"/>
            <a:ext cx="8046720" cy="2743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365760" y="896112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852160" y="868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Clave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852160" y="1298448"/>
            <a:ext cx="3017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0" y="13533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943600" y="1600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0.638  →  0.871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80960" y="16002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+36.5%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52160" y="2350008"/>
            <a:ext cx="3017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2404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  →  68.8%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80960" y="265176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+15.4pp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852160" y="3401568"/>
            <a:ext cx="301752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943600" y="3456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43600" y="3703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73.1%  →  78.5%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37033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+5.4pp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852160" y="4480560"/>
            <a:ext cx="3017520" cy="594360"/>
          </a:xfrm>
          <a:prstGeom prst="rect">
            <a:avLst/>
          </a:prstGeom>
          <a:solidFill>
            <a:srgbClr val="FFF3E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61888" y="4535424"/>
            <a:ext cx="2798064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QDA: Accuracy 76.1% | AUC moderado — útil como exploración inicial.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5760" y="41879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incorporación de HbA1c, colesterol e insulina elevó el AUC de 0.638 a 0.871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4206240" cy="182880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0467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418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Fenómeno Multivariado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diabetes se asocia a factores demográficos, corporales, dietarios, cardiovasculares y clínicos de manera conjunta. No puede explicarse desde una sola dimensión.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804672"/>
            <a:ext cx="4206240" cy="182880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80467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418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Variables Básicas como Tamizaje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demográficas y de estilo de vida permiten una aproximación inicial al riesgo pero con limitaciones importantes en precisión.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4206240" cy="182880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7063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077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  Exámenes Clínicos son Necesarios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3337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HbA1c, el colesterol y la insulina son indispensables para mejorar la predicción. El AUC pasó de 0.638 a 0.871 al incorporarlas.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00600" y="2770632"/>
            <a:ext cx="4206240" cy="182880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770632"/>
            <a:ext cx="4206240" cy="64008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90779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Estrategia Diagnóstica Óptima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variables básicas para orientar el tamizaje inicial, luego confirmar con exámenes clínicos seleccionados de forma eficiente.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830"/>
          </a:solidFill>
          <a:ln w="12700">
            <a:solidFill>
              <a:srgbClr val="0718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0"/>
            <a:ext cx="73152" cy="5143500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9728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274320" y="1965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Rosario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de Datos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017520" y="54864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17520" y="1078992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 NHANES 2013–2014 · 3.174 individuos &gt;45 años · 16 variables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MANOVA confirma perfiles distintos entre grupos de riesgo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identifica 3 dimensiones: dietaria, cardiovascular-demográfica y clínico-metabólica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completa: AUC = 0.871 vs. 0.638 del modelo básico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clínicas (HbA1c, colesterol, insulina) son indispensables para la predicción precisa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17520" y="438912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3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Factores Demográficos, Clínicos y de Estilo de Vida en la Predicción del Riesgo de Diabetes</dc:title>
  <dc:subject>PptxGenJS Presentation</dc:subject>
  <dc:creator>PptxGenJS</dc:creator>
  <cp:lastModifiedBy>PptxGenJS</cp:lastModifiedBy>
  <cp:revision>1</cp:revision>
  <dcterms:created xsi:type="dcterms:W3CDTF">2026-05-25T08:46:45Z</dcterms:created>
  <dcterms:modified xsi:type="dcterms:W3CDTF">2026-05-25T08:46:45Z</dcterms:modified>
</cp:coreProperties>
</file>